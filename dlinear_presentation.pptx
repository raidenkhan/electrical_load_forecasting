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558B2F"/>
                </a:solidFill>
                <a:latin typeface="Calibri"/>
              </a:defRPr>
            </a:pPr>
            <a:r>
              <a:t>KNUST  ×  GridCo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558B2F"/>
                </a:solidFill>
                <a:latin typeface="Calibri"/>
              </a:defRPr>
            </a:pPr>
            <a:r>
              <a:t>FROM ACADEMIC RESEARCH TO PRODUCTION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DLinear+H10: Load Forecasting</a:t>
            </a:r>
            <a:br/>
            <a:r>
              <a:t>for Ghana's National Grid.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AAAAAA"/>
                </a:solidFill>
                <a:latin typeface="Calibri"/>
              </a:defRPr>
            </a:pPr>
            <a:r>
              <a:t>A joint project between KNUST and GridCo — bringing accurate, data-driven forecasting</a:t>
            </a:r>
            <a:br/>
            <a:r>
              <a:t>to the national dispatch centre. Saving fuel. Saving money. Keeping the lights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CCCCCC"/>
                </a:solidFill>
                <a:latin typeface="Calibri"/>
              </a:defRPr>
            </a:pPr>
            <a:r>
              <a:t>70,228 hours trained    91 MW baseline    6-fold CV    438,000 MWh/year saved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828800"/>
            <a:ext cx="292608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2103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AAAAAA"/>
                </a:solidFill>
                <a:latin typeface="Calibri"/>
              </a:defRPr>
            </a:pPr>
            <a:r>
              <a:t>Project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KNUST × GridCo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69747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AAAAAA"/>
                </a:solidFill>
                <a:latin typeface="Calibri"/>
              </a:defRPr>
            </a:pPr>
            <a:r>
              <a:t>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9260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DLinear + H10 Corrector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29183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AAAAAA"/>
                </a:solidFill>
                <a:latin typeface="Calibri"/>
              </a:defRPr>
            </a:pPr>
            <a:r>
              <a:t>Operational Savings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35204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438,000 MWh/year refined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886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AAAAAA"/>
                </a:solidFill>
                <a:latin typeface="Calibri"/>
              </a:defRPr>
            </a:pPr>
            <a:r>
              <a:t>Data Span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Jan 2018 –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t>01  /  The Data  —  70k hours from Ghana's national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t>What the Data Tells Us About Ghana's Growing Grid.</a:t>
            </a:r>
          </a:p>
        </p:txBody>
      </p:sp>
      <p:pic>
        <p:nvPicPr>
          <p:cNvPr id="5" name="Picture 4" descr="dema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94360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5120" y="173736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1737360"/>
            <a:ext cx="54864" cy="22860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1000"/>
              </a:spcAft>
              <a:defRPr sz="2000" b="1">
                <a:solidFill>
                  <a:srgbClr val="111111"/>
                </a:solidFill>
                <a:latin typeface="Calibri"/>
              </a:defRPr>
            </a:pPr>
            <a:r>
              <a:t>Here's What We Found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Demand grew 2.5× in 8 years. From ~1,467 MW to ~3,750 MW. That's 12.4% annual growth. Compare this to Europe: 0–1%. A model trained on 2021 data simply won't work on 2026 data.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Accuracy has a price tag. Every MW of forecast error costs GridCo money — either fuel burned for over-generation that nobody uses, or expensive peaker plants scrambled last-minute for under-generation. A better forecast means leaner dispatch, less waste, lower costs.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What we don't know: electrification (67% → 83% rural access), GDP, urbanisation — these drive demand but we don't track them as features.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4206240"/>
            <a:ext cx="5029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4297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Patterns That Jumped Out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→  Daily rhythm: Morning ramp. Evening peak. Overnight trough.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→  Weekly cycle: Weekdays high. Weekends low.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→  Seasons: Dry season ≠ wet season.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→  Growth: Upward drift across all 8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777777"/>
                </a:solidFill>
                <a:latin typeface="Calibri"/>
              </a:defRPr>
            </a:pPr>
            <a:r>
              <a:t>Features: demand_mw  ·  temperature_c  ·  hour  ·  date  ·  3.95% filtered for sensor outages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Source: ECG SCADA  ·  12.4% CAGR = Compound Annual Growth Rate 2018–2026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t>02  /  Aims  —  What we set out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t>Five Aims for This Academia–Industry Collaboration.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" cy="210312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1. Accurate, Robust Forecasting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Develop a data-driven load forecasting model for Ghana's national grid that handles rapid demand growth (12.4% CAGR), distribution shifts, and limited feature availability — outperforming both operator heuristics and imported deep learning architectures.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54864" cy="164592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2. Error Correction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Go beyond raw predictions. Study residual errors to build second-stage correctors that extract an additional 20–40% accuracy gain from autocorrelated error patterns.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577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54864" cy="146304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3. Production Deployment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Package research into a web application deployed at GridCo's dispatch centre — replacing a 45-minute Excel workflow with a 1-minute automated process. Keep operators in control.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47472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474720"/>
            <a:ext cx="54864" cy="128016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56616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4. Sustainable AI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Prove that accurate grid forecasting does not require GPU infrastructure or massive energy budgets. A 36K-parameter CPU-trained model can beat Transformers on both accuracy and efficiency.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93776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937760"/>
            <a:ext cx="54864" cy="109728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50292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5. Insights for West African Grids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Draw generalisable lessons about load forecasting in rapidly developing electricity grids where stationary data assumptions fail.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KNUST Department of Electrical Engineering  ·  GridCo National Dispatch Centre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t>03  /  Current Practice  —  The operator's existing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t>GridCo's Current Approach: Manual Heuristics → Data-Driven.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What They Do Today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Dispatchers use Excel. They find a similar historical day by experience, adjust for temperature, populate the schedule manually.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~45 minutes per forecast. No learning from 70k hours of data. Each forecast starts from scratch.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82880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0" y="1828800"/>
            <a:ext cx="54864" cy="256032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We Tested Their Approach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Digitised the similar-day method as a KNN model. Result: 141 MW MAE.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A simple 2-day weighted trend? 113 MW MAE. Beat the heuristic.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44444"/>
                </a:solidFill>
                <a:latin typeface="Calibri"/>
              </a:defRPr>
            </a:pPr>
            <a:r>
              <a:t>Conclusion: Data-driven methods outperform human heuristics when given enough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828800"/>
            <a:ext cx="3749039" cy="2560320"/>
          </a:xfrm>
          <a:prstGeom prst="rect">
            <a:avLst/>
          </a:prstGeom>
          <a:solidFill>
            <a:srgbClr val="F2F7EE"/>
          </a:solidFill>
          <a:ln w="12700">
            <a:solidFill>
              <a:srgbClr val="C8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92024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So What Did We Build?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A system that complements the operator — doesn't replace them.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Forecast auto-generates in ~1 minute. Fills the dispatch schedule automatically.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44444"/>
                </a:solidFill>
                <a:latin typeface="Calibri"/>
              </a:defRPr>
            </a:pPr>
            <a:r>
              <a:t>Operator stays in control. The forecast is a suggestion — accept, edit, or override.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77777"/>
                </a:solidFill>
                <a:latin typeface="Calibri"/>
              </a:defRPr>
            </a:pPr>
            <a:r>
              <a:t>Manual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C77500"/>
                </a:solidFill>
                <a:latin typeface="Calibri"/>
              </a:defRPr>
            </a:pPr>
            <a:r>
              <a:t>~45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77777"/>
                </a:solidFill>
                <a:latin typeface="Calibri"/>
              </a:defRPr>
            </a:pPr>
            <a:r>
              <a:t>KNN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AAAAAA"/>
                </a:solidFill>
                <a:latin typeface="Calibri"/>
              </a:defRPr>
            </a:pPr>
            <a:r>
              <a:t>141 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77777"/>
                </a:solidFill>
                <a:latin typeface="Calibri"/>
              </a:defRPr>
            </a:pPr>
            <a:r>
              <a:t>Simple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AAAAAA"/>
                </a:solidFill>
                <a:latin typeface="Calibri"/>
              </a:defRPr>
            </a:pPr>
            <a:r>
              <a:t>113 MW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77777"/>
                </a:solidFill>
                <a:latin typeface="Calibri"/>
              </a:defRPr>
            </a:pPr>
            <a:r>
              <a:t>Our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B7A3D"/>
                </a:solidFill>
                <a:latin typeface="Calibri"/>
              </a:defRPr>
            </a:pPr>
            <a:r>
              <a:t>~1 min  ·  68.9 MW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KNN = k-Nearest Neighbours  ·  MAE = Mean Absolute Error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t>04  /  Foundations  —  Understanding data before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t>We Started Simple. Here's What We Found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111111"/>
                </a:solidFill>
                <a:latin typeface="Calibri"/>
              </a:defRPr>
            </a:pPr>
            <a:r>
              <a:t>Patterns Jumped Out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→  Daily rhythm: Morning ramp. Evening peak. Overnight trough. Every day.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→  Weekly rhythm: Weekdays high. Weekends low. Predictable.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→  Seasons: Dry season ≠ wet season. Load changes with the calendar.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→  Growth: Upward drift across all 8 years. +12.4% CAGR in the raw data.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alibri"/>
              </a:defRPr>
            </a:pPr>
            <a:r>
              <a:t>On temperature: It affects load — but it's slow-moving and already baked into hour and month features.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5577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54864" cy="256032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111111"/>
                </a:solidFill>
                <a:latin typeface="Calibri"/>
              </a:defRPr>
            </a:pPr>
            <a:r>
              <a:t>Resisted the Urge to Go Big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Most projects reach for deep learning first. We didn't. We asked: how far can simple methods take us?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558B2F"/>
                </a:solidFill>
                <a:latin typeface="Calibri"/>
              </a:defRPr>
            </a:pPr>
            <a:r>
              <a:t>First Try:  Classical decomposition (trend + seasonality)  →  3–4% MAPE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558B2F"/>
                </a:solidFill>
                <a:latin typeface="Calibri"/>
              </a:defRPr>
            </a:pPr>
            <a:r>
              <a:t>Second Try:  Weighted trend (yesterday + last week)  →  113 MW MAE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Lesson: Simple models already capture most of the signal. Deep learning's value must be proven — not assumed.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44444"/>
                </a:solidFill>
                <a:latin typeface="Calibri"/>
              </a:defRPr>
            </a:pPr>
            <a:r>
              <a:t>Our rule: Establish a strong simple baseline first. If classical decomposition hits 3–4% MAPE, don't jump to a transformer. Prove the marginal value of complexity.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MAPE = Mean Absolute Percentage Error  ·  L1 = last 24 hours  ·  L7 = last 7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t>05  /  Benchmarking  —  6-fold expanding-window CV across 8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t>DLinear Beat Transformers, LSTMs, and CNNs — Here's How.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097280"/>
                <a:gridCol w="10058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t>Mean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t>+TIDE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t>Gain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691E"/>
                          </a:solidFill>
                          <a:latin typeface="Calibri"/>
                        </a:defRPr>
                      </a:pPr>
                      <a:r>
                        <a:t>DLinear  ·  36K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691E"/>
                          </a:solidFill>
                          <a:latin typeface="Calibri"/>
                        </a:defRPr>
                      </a:pPr>
                      <a:r>
                        <a:t>91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67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−26%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CNN (WaveNet)  ·  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97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74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−23%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LSTM  ·  840K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102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79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−23%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Transformer  ·  2.1M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109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82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−24%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fold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5486400" cy="2377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" cy="438912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111111"/>
                </a:solidFill>
                <a:latin typeface="Calibri"/>
              </a:defRPr>
            </a:pPr>
            <a:r>
              <a:t>Why DLinear Won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DLinear = Decomposition Linear. It splits load into two parts: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→  Trend — gradual direction (is demand going up or down?)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→  Seasonal — daily/weekly rhythm (morning peak, weekend dip)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Each gets a learned weight plus calendar info. They sum to the forecast. No attention. No recurrence. No convolutions.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Why it works: Load patterns aren't that complex. DLinear's 36K parameters capture the signal. The other models (1–2M params) fit noise. DLinear trains on a laptop CPU in minutes. The simplest model won — and every MW DLinear saves vs the Transformer means real fuel not burned at GridCo's dispatch.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6-fold expanding window  ·  8 years of data  ·  TIDE = Trend-adjusted Iterative Debiasing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t>06  /  Results  —  Raw DLinear before any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t>DLinear's Performance Before Correction.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4114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t>MAPE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Day-Ahead (24h)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121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4.22%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Week-Ahead (168h)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163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5.30%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Month-Ahead (720h)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104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3.40%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777777"/>
                </a:solidFill>
                <a:latin typeface="Calibri"/>
              </a:defRPr>
            </a:pPr>
            <a:r>
              <a:t>One model handles all three horizons. 720h lower than 168h because longer horizons average out daily variation.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8288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0" y="1828800"/>
            <a:ext cx="54864" cy="22860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9202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MAE vs MAPE — Why Both?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MAE: Average error in megawatts. What GridCo dispatchers feel — they dispatch in MW.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MAPE: Error as a percentage. Useful across different load levels. 121 MW is ~3.9% at peak but larger at low 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828800"/>
            <a:ext cx="2926080" cy="2286000"/>
          </a:xfrm>
          <a:prstGeom prst="rect">
            <a:avLst/>
          </a:prstGeom>
          <a:solidFill>
            <a:srgbClr val="F2F7EE"/>
          </a:solidFill>
          <a:ln w="12700">
            <a:solidFill>
              <a:srgbClr val="C8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92024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The 2024 Spike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62828"/>
                </a:solidFill>
                <a:latin typeface="Calibri"/>
              </a:defRPr>
            </a:pPr>
            <a:r>
              <a:t>Fold 4 hit 226 MW — more than double the average.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COVID recovery broke the pattern. A model that worked in 2023 failed in 2024.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44444"/>
                </a:solidFill>
                <a:latin typeface="Calibri"/>
              </a:defRPr>
            </a:pPr>
            <a:r>
              <a:t>This is why 6-fold CV matters: one number hides regime-dependent failure.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846320" y="438912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914400"/>
                <a:gridCol w="338328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t>Test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t>Context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166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COVID recovery disruption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107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Stable recovery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111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Moderate growth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226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Growth discontinuity — spike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92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Pattern stabilized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6-fold mean: 110 MW  ·  Range: 92–226 MW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t>07  /  Correction  —  Learning from prediction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t>Good Results — But Errors Told a Different 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" cy="13716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t>Errors Are Not Random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We checked the residuals. Normally a good model's errors look like noise. Ours didn't. Correlation of 0.79 between consecutive hours. If we over-predicted hour 0, we'd over-predict hour 1 too. Errors have structure. That makes them learnable.</a:t>
            </a:r>
          </a:p>
        </p:txBody>
      </p:sp>
      <p:pic>
        <p:nvPicPr>
          <p:cNvPr id="8" name="Picture 7" descr="error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486400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347472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11111"/>
                </a:solidFill>
                <a:latin typeface="Calibri"/>
              </a:defRPr>
            </a:pPr>
            <a:r>
              <a:t>TIDE — A Smart Filter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Zero parameters. No training. Dampens recent errors using a weighted average. Learns how much to trust the latest mistake vs. the long-term trend.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77500"/>
                </a:solidFill>
                <a:latin typeface="Calibri"/>
              </a:defRPr>
            </a:pPr>
            <a:r>
              <a:t>Result: 95.5 MW  (−20.9%)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47472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5661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11111"/>
                </a:solidFill>
                <a:latin typeface="Calibri"/>
              </a:defRPr>
            </a:pPr>
            <a:r>
              <a:t>ARD — Probabilistic Fix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Bayesian model that learns persistent bias: 'DLinear always over-predicts Tuesday 19h by 15 MW.' Only works with true error access (sequential mode).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691E"/>
                </a:solidFill>
                <a:latin typeface="Calibri"/>
              </a:defRPr>
            </a:pPr>
            <a:r>
              <a:t>Result: 68.9 MW  (−40.4%)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474720"/>
            <a:ext cx="3749039" cy="1645920"/>
          </a:xfrm>
          <a:prstGeom prst="rect">
            <a:avLst/>
          </a:prstGeom>
          <a:solidFill>
            <a:srgbClr val="F2F7EE"/>
          </a:solidFill>
          <a:ln w="12700">
            <a:solidFill>
              <a:srgbClr val="C8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5661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11111"/>
                </a:solidFill>
                <a:latin typeface="Calibri"/>
              </a:defRPr>
            </a:pPr>
            <a:r>
              <a:t>The Critical Finding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TIDE works because it has access to recent errors. ARD without error history? Useless.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44444"/>
                </a:solidFill>
                <a:latin typeface="Calibri"/>
              </a:defRPr>
            </a:pPr>
            <a:r>
              <a:t>A streaming model — correcting hour-by-hour as actuals arrive — unlocks the full 40% gain. And it does so with near-zero operational cost while saving GridCo real fuel and money on dispatch.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777777"/>
                </a:solidFill>
                <a:latin typeface="Calibri"/>
              </a:defRPr>
            </a:pPr>
            <a:r>
              <a:t>All methods: Baseline 115.6  ·  TIDE 95.5 (−21%)  ·  SMA-7d 106  ·  Kalman 98  ·  ARD batch 115  ·  ARD sequential 68.9 (−40%)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TIDE = Trend-adjusted Iterative Debiasing Engine  ·  ARD = Automatic Relevance Determination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t>08  /  Energy  —  How better accuracy saves real fuel and emissions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t>Better Forecasts Don't Just Improve Numbers — They Save Fuel.</a:t>
            </a:r>
          </a:p>
        </p:txBody>
      </p:sp>
      <p:pic>
        <p:nvPicPr>
          <p:cNvPr id="5" name="Picture 4" descr="energy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577840"/>
            <a:ext cx="3474720" cy="1280160"/>
          </a:xfrm>
          <a:prstGeom prst="rect">
            <a:avLst/>
          </a:prstGeom>
          <a:solidFill>
            <a:srgbClr val="F2F7EE"/>
          </a:solidFill>
          <a:ln w="12700">
            <a:solidFill>
              <a:srgbClr val="C8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The Fuel Story. 50 MW less error → 50 MW dispatched correctly every hour. No wasted fuel from over-generation. No expensive peaker scramble from under-generation. At ~0.4 tCO₂/MWh, that's ~20 tCO₂ saved per hour of avoided over-gen.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5577840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5669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The Money Story. GridCo's peaker plants cost $150–300/MWh. A 50 MW under-forecast mistake can cost thousands per hour in fast-ramping generation. DLinear cuts that error by 35–50%. At 12.4% demand growth, the cost of being wrong compounds yearly.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557784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56692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The Annual Picture. 50 MW avg × 24h × 365d = 438,000 MWh/year of better dispatch decisions. The model trains for 0.003 kWh per fold. The operational savings — fuel, emissions, peaker avoidance — are millions of times larger.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Training energy measured with CodeCarbon  ·  Gas turbine: ~40% efficiency, ~0.4 tCO₂/MWh  ·  Peaker fuel ~$150/MWh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t>09  /  Takeaways  —  What this means for West African grids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t>What This Work Says About West African Grids.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111111"/>
                </a:solidFill>
                <a:latin typeface="Calibri"/>
              </a:defRPr>
            </a:pPr>
            <a:r>
              <a:t>Industrial Impact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→  Replaced a ~45-minute manual Excel workflow with a ~1-minute automated process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→  Web application deployed at GridCo — forecast auto-fills the dispatch schedule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→  Operators stay in control: accept, edit, or override any forecast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→  Designed for semi-annual retraining as new data arrives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→  Fuel savings: 50 MW better accuracy = ~438,000 MWh/year smarter dispatch — less fuel burned, lower emissions, cheaper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5577840" cy="2286000"/>
          </a:xfrm>
          <a:prstGeom prst="rect">
            <a:avLst/>
          </a:prstGeom>
          <a:solidFill>
            <a:srgbClr val="F2F7EE"/>
          </a:solidFill>
          <a:ln w="12700">
            <a:solidFill>
              <a:srgbClr val="C8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111111"/>
                </a:solidFill>
                <a:latin typeface="Calibri"/>
              </a:defRPr>
            </a:pPr>
            <a:r>
              <a:t>For West African Grids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Stationary data is a myth here. European grids grow 0–1% yearly. Ours: 12.4%. Models from mature grids degrade fast.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6-fold CV is non-negotiable. Model rankings change year to year (2024's 226 MW spike). A single test year can mislead.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Accuracy is fuel efficiency. Every MW of forecast error is a MW misdispatched — wasted fuel or expensive reserves. Better forecasts = leaner, cheaper grid.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44444"/>
                </a:solidFill>
                <a:latin typeface="Calibri"/>
              </a:defRPr>
            </a:pPr>
            <a:r>
              <a:t>Streaming is the path forward. The 40% gain proves that error autocorrelation is our strongest signal. Batch can't use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C77500"/>
                </a:solidFill>
                <a:latin typeface="Calibri"/>
              </a:defRPr>
            </a:pPr>
            <a:r>
              <a:t>Short-term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Deploy robust correctors (TIDE-style) — reliable gains without new 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44805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572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558B2F"/>
                </a:solidFill>
                <a:latin typeface="Calibri"/>
              </a:defRPr>
            </a:pPr>
            <a:r>
              <a:t>Medium-term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Incorporate external drivers: electrification rates, GDP, urbanisation as model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448056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5720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33691E"/>
                </a:solidFill>
                <a:latin typeface="Calibri"/>
              </a:defRPr>
            </a:pPr>
            <a:r>
              <a:t>Long-term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Streaming DLinear with continuous real-time correction — lightweight model + live error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444444"/>
                </a:solidFill>
                <a:latin typeface="Calibri"/>
              </a:defRPr>
            </a:pPr>
            <a:r>
              <a:t>"The grid will keep changing. Research must change with it. The simplest model won — but streaming correction unlocks what batch cannot touch."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558B2F"/>
                </a:solidFill>
                <a:latin typeface="Calibri"/>
              </a:defRPr>
            </a:pPr>
            <a:r>
              <a:t>KNUST × GridCo  ·  DLinear+H10  ·  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