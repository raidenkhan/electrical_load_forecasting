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8" r:id="rId4"/>
    <p:sldId id="260" r:id="rId5"/>
    <p:sldId id="261" r:id="rId6"/>
    <p:sldId id="262" r:id="rId7"/>
    <p:sldId id="265" r:id="rId8"/>
    <p:sldId id="270" r:id="rId9"/>
    <p:sldId id="269" r:id="rId10"/>
    <p:sldId id="264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BD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02717-8EA5-4067-843E-389FC2F5F1E6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6CDCF2-5304-4602-9072-91B089F06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34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DE69F-5F0B-8C20-7189-EAE3069A9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EF19DE-1C3E-1388-CF14-4CBD13EC2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B3B2E-A0CE-1B8B-7154-052CBA3B9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B046C-9968-4C40-9485-1231202FA8D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22C9D-17F6-A5E9-EAC7-FAA69909F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CF38C-D2AF-A046-962C-BB949854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574C-606F-4748-9A30-09C62FEC1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30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AF226-3024-E9CB-2988-744A2BD81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0C73D-5669-31C9-5350-E9CDE08F8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66016-E203-0B86-4589-135C1D60B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B046C-9968-4C40-9485-1231202FA8D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14324-7347-C407-3775-A4B470FE7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18306-0C4D-EC74-0E6C-CA5792E4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574C-606F-4748-9A30-09C62FEC1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61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2D320-1DF0-2724-CBBB-74CE4F545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D8AF7-15FB-6D9A-5FD0-08484DEE2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4E039-F279-BC47-88F7-6637A14C7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B046C-9968-4C40-9485-1231202FA8D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B2330-638B-6A51-E4B6-15730EFCF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7A7DE-9A04-0BDB-085D-0BD188FB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574C-606F-4748-9A30-09C62FEC1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8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9160A-B6B4-2343-0A9B-D975F5331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5CC7D-9B03-276B-A534-AFF4052AF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B9767-B731-46D6-380E-33E675382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943CE-C544-85D8-9446-F6D9AE057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B046C-9968-4C40-9485-1231202FA8D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0D330-CC9B-ACDE-4893-5C5F46D3C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3C145-8212-9D64-0A07-A29E28339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574C-606F-4748-9A30-09C62FEC1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2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191D6-353C-8ED0-2319-F6FA61AF8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6D7E3-5A93-47D4-E3AF-00386DC13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499736-9797-0468-147E-4BD83E96B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7A5F02-2B13-4F68-7819-0B834BBFD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84BB5-F09B-ACE9-FD55-CD91478DE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5EB2F-C9C7-1D07-3B64-BEAD4BE0F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B046C-9968-4C40-9485-1231202FA8D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97BA62-ACB3-76F9-5876-8DB5D5414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CB476-AAA5-9BEA-F0F0-0574EF91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574C-606F-4748-9A30-09C62FEC1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98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E6038-3A25-919E-481C-268B8A7C7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314FE3-D78B-81A4-64AC-C3D8D5C9E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B046C-9968-4C40-9485-1231202FA8D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584E5-DE28-50BB-944D-187698709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7A502-89B7-120A-C4F2-E59A0E011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574C-606F-4748-9A30-09C62FEC1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63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ADB758-0969-2A5A-4CDD-CD85A2361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B046C-9968-4C40-9485-1231202FA8D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F8C948-A8D5-A038-3F09-FE5F9FC4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70CB3-113F-F893-6453-1461AAEE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574C-606F-4748-9A30-09C62FEC1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6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8C8DE-D18C-8F8C-D990-DDB3B14DA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9A685-D07E-281E-AA60-BD1FF69FE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9786-9602-FA21-D691-827C2B0B8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8266F-56A9-DF54-DE62-34C04F8DC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B046C-9968-4C40-9485-1231202FA8D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FB51C-B4ED-38A5-62C9-B6F38FCA4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291C6-3936-DC7C-CD4B-30A3574E4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574C-606F-4748-9A30-09C62FEC1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990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7D74A-CA2E-AD38-48FD-968B73DC0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6CE26-8530-FFB9-1C2D-DC2427905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81DA0-4DB0-8ED4-37ED-6420F9AD5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3F8FE-0547-3A3C-2C92-F4AFF3E26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B046C-9968-4C40-9485-1231202FA8D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38FD4-B378-76A2-E41B-F63F1A7AE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EF296-F757-9DCD-302B-961CB580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574C-606F-4748-9A30-09C62FEC1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93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D10-345C-8DB0-27F1-6882E860D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5D6A6F-35BA-D19E-E837-8AA7BA48D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8DAF6-0475-9DD5-6FD9-F9174E65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B046C-9968-4C40-9485-1231202FA8D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E0011-F4C7-4BBE-8E5E-5C15EA278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D27B3-F7FB-85F1-B619-649F38CA5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574C-606F-4748-9A30-09C62FEC1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5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2FAB31-8F66-6F11-637A-BAEFB436F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1A633A-8962-20B1-20B6-8A9205D02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BB28F-671F-F3C1-1427-FC1BBB6DC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B046C-9968-4C40-9485-1231202FA8D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56C5C-0FE6-223B-ADA7-D3D197D7D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127B9-C03E-4906-B95C-21636A92B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574C-606F-4748-9A30-09C62FEC1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99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512F02-6662-A4C5-9577-9B11FFDDB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2BB33-53CA-1446-8BD9-01DE54C27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4E6DC-09D3-F256-5736-C90B2066B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6B046C-9968-4C40-9485-1231202FA8D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061E3-673B-3394-057F-30CE65838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2E131-9706-984D-093E-D37E6FD90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6B574C-606F-4748-9A30-09C62FEC1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4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>
            <a:extLst>
              <a:ext uri="{FF2B5EF4-FFF2-40B4-BE49-F238E27FC236}">
                <a16:creationId xmlns:a16="http://schemas.microsoft.com/office/drawing/2014/main" id="{85DAC43F-54F8-16A1-D896-C524FB51658F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97654"/>
            <a:ext cx="12192000" cy="6760345"/>
          </a:xfrm>
          <a:prstGeom prst="rect">
            <a:avLst/>
          </a:prstGeom>
        </p:spPr>
      </p:pic>
      <p:sp>
        <p:nvSpPr>
          <p:cNvPr id="10" name="Google Shape;17;p1">
            <a:extLst>
              <a:ext uri="{FF2B5EF4-FFF2-40B4-BE49-F238E27FC236}">
                <a16:creationId xmlns:a16="http://schemas.microsoft.com/office/drawing/2014/main" id="{520E0D96-A567-B246-2EA9-2A1F2617FAAF}"/>
              </a:ext>
            </a:extLst>
          </p:cNvPr>
          <p:cNvSpPr/>
          <p:nvPr/>
        </p:nvSpPr>
        <p:spPr>
          <a:xfrm>
            <a:off x="571500" y="1533451"/>
            <a:ext cx="7791451" cy="192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72000"/>
              </a:lnSpc>
              <a:buClr>
                <a:srgbClr val="1A1C20"/>
              </a:buClr>
              <a:buSzPts val="4350"/>
            </a:pPr>
            <a:r>
              <a:rPr lang="en-US" sz="5800" b="1" dirty="0">
                <a:solidFill>
                  <a:srgbClr val="1A1C2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REVOLUTIONIZING</a:t>
            </a:r>
            <a:br>
              <a:rPr lang="en-US" sz="5800" b="1" dirty="0">
                <a:solidFill>
                  <a:srgbClr val="1A1C2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lang="en-US" sz="5800" b="1" dirty="0">
                <a:solidFill>
                  <a:srgbClr val="1A1C2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LOAD </a:t>
            </a:r>
            <a:r>
              <a:rPr lang="en-US" sz="5800" b="1" dirty="0">
                <a:solidFill>
                  <a:srgbClr val="67BD5C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FORECASTING</a:t>
            </a:r>
            <a:endParaRPr sz="5800" dirty="0">
              <a:solidFill>
                <a:srgbClr val="67BD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2;p1">
            <a:extLst>
              <a:ext uri="{FF2B5EF4-FFF2-40B4-BE49-F238E27FC236}">
                <a16:creationId xmlns:a16="http://schemas.microsoft.com/office/drawing/2014/main" id="{9D2D510E-126C-8D58-246E-37C9032FB8D4}"/>
              </a:ext>
            </a:extLst>
          </p:cNvPr>
          <p:cNvSpPr/>
          <p:nvPr/>
        </p:nvSpPr>
        <p:spPr>
          <a:xfrm>
            <a:off x="9182878" y="979422"/>
            <a:ext cx="3429000" cy="132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88000"/>
              </a:lnSpc>
              <a:buClr>
                <a:srgbClr val="1A1C20"/>
              </a:buClr>
              <a:buSzPts val="2450"/>
            </a:pPr>
            <a:r>
              <a:rPr lang="en-US" sz="3267" b="1" dirty="0">
                <a:solidFill>
                  <a:schemeClr val="bg1">
                    <a:lumMod val="75000"/>
                  </a:schemeClr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KNUST</a:t>
            </a:r>
            <a:br>
              <a:rPr lang="en-US" sz="3267" b="1" dirty="0">
                <a:solidFill>
                  <a:schemeClr val="bg1">
                    <a:lumMod val="75000"/>
                  </a:schemeClr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lang="en-US" sz="3267" b="1" dirty="0">
                <a:solidFill>
                  <a:schemeClr val="bg1">
                    <a:lumMod val="75000"/>
                  </a:schemeClr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×</a:t>
            </a:r>
            <a:br>
              <a:rPr lang="en-US" sz="3267" b="1" dirty="0">
                <a:solidFill>
                  <a:schemeClr val="bg1">
                    <a:lumMod val="75000"/>
                  </a:schemeClr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lang="en-US" sz="3267" b="1" dirty="0">
                <a:solidFill>
                  <a:schemeClr val="bg1">
                    <a:lumMod val="75000"/>
                  </a:schemeClr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GRIDCO</a:t>
            </a:r>
            <a:endParaRPr sz="3267" dirty="0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8;p1">
            <a:extLst>
              <a:ext uri="{FF2B5EF4-FFF2-40B4-BE49-F238E27FC236}">
                <a16:creationId xmlns:a16="http://schemas.microsoft.com/office/drawing/2014/main" id="{00112BAB-C917-B1A6-0185-ACD9CA968219}"/>
              </a:ext>
            </a:extLst>
          </p:cNvPr>
          <p:cNvSpPr/>
          <p:nvPr/>
        </p:nvSpPr>
        <p:spPr>
          <a:xfrm>
            <a:off x="571501" y="3865105"/>
            <a:ext cx="6667500" cy="513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4A5568"/>
              </a:buClr>
              <a:buSzPts val="1250"/>
            </a:pPr>
            <a:r>
              <a:rPr lang="en-US" sz="1667" dirty="0">
                <a:solidFill>
                  <a:srgbClr val="4A5568"/>
                </a:solidFill>
                <a:latin typeface="Poppins" panose="00000800000000000000" pitchFamily="2" charset="0"/>
                <a:ea typeface="Roboto Mono"/>
                <a:cs typeface="Poppins" panose="00000800000000000000" pitchFamily="2" charset="0"/>
                <a:sym typeface="Roboto Mono"/>
              </a:rPr>
              <a:t>From Academic Research to Production Impact for Ghana's National Grid</a:t>
            </a:r>
            <a:endParaRPr sz="1667" dirty="0">
              <a:solidFill>
                <a:schemeClr val="dk1"/>
              </a:solidFill>
              <a:latin typeface="Poppins" panose="00000800000000000000" pitchFamily="2" charset="0"/>
              <a:ea typeface="Calibri"/>
              <a:cs typeface="Poppins" panose="00000800000000000000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5784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F6BE898-4AB5-0316-BED1-D5D37AFB6E2B}"/>
              </a:ext>
            </a:extLst>
          </p:cNvPr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CD9061-1661-F66B-E0D6-7482E8BCE8E2}"/>
              </a:ext>
            </a:extLst>
          </p:cNvPr>
          <p:cNvSpPr txBox="1"/>
          <p:nvPr/>
        </p:nvSpPr>
        <p:spPr>
          <a:xfrm>
            <a:off x="502920" y="417835"/>
            <a:ext cx="311816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rPr>
                <a:latin typeface="Poppins" panose="00000800000000000000" pitchFamily="2" charset="0"/>
                <a:cs typeface="Poppins" panose="00000800000000000000" pitchFamily="2" charset="0"/>
              </a:rPr>
              <a:t>02  /  Aims  —  What we set out to achieve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8B7408-4F35-9EC0-0F19-013450049A72}"/>
              </a:ext>
            </a:extLst>
          </p:cNvPr>
          <p:cNvSpPr txBox="1"/>
          <p:nvPr/>
        </p:nvSpPr>
        <p:spPr>
          <a:xfrm>
            <a:off x="457200" y="731520"/>
            <a:ext cx="11247120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Five Aims for This Academia–Industry Collaboration.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34127A-C622-B3A4-0D0F-0C6DB817BBBF}"/>
              </a:ext>
            </a:extLst>
          </p:cNvPr>
          <p:cNvSpPr/>
          <p:nvPr/>
        </p:nvSpPr>
        <p:spPr>
          <a:xfrm>
            <a:off x="457200" y="1828800"/>
            <a:ext cx="5394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75C69B-0C3D-C949-4920-F97A9FB014C6}"/>
              </a:ext>
            </a:extLst>
          </p:cNvPr>
          <p:cNvSpPr/>
          <p:nvPr/>
        </p:nvSpPr>
        <p:spPr>
          <a:xfrm>
            <a:off x="457200" y="1828800"/>
            <a:ext cx="54864" cy="210312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111034-DECE-E08C-620B-2E672ED948BE}"/>
              </a:ext>
            </a:extLst>
          </p:cNvPr>
          <p:cNvSpPr txBox="1"/>
          <p:nvPr/>
        </p:nvSpPr>
        <p:spPr>
          <a:xfrm>
            <a:off x="640080" y="1920240"/>
            <a:ext cx="5029200" cy="145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1. Accurate, Robust Forecasting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dirty="0">
                <a:solidFill>
                  <a:schemeClr val="bg1">
                    <a:lumMod val="65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Develop a data-driven load forecasting model for Ghana's national grid that handles rapid demand growth (12.4% CAGR), distribution shifts, and limited feature availability — outperforming both operator heuristics and imported deep learning architectures.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E4DA8B-4160-6A30-E106-99424DC51A9F}"/>
              </a:ext>
            </a:extLst>
          </p:cNvPr>
          <p:cNvSpPr/>
          <p:nvPr/>
        </p:nvSpPr>
        <p:spPr>
          <a:xfrm>
            <a:off x="457200" y="4114800"/>
            <a:ext cx="5394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41C32D-B38C-D334-A3A7-6D332508C923}"/>
              </a:ext>
            </a:extLst>
          </p:cNvPr>
          <p:cNvSpPr/>
          <p:nvPr/>
        </p:nvSpPr>
        <p:spPr>
          <a:xfrm>
            <a:off x="457200" y="4114800"/>
            <a:ext cx="54864" cy="164592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EFF96D-F615-524B-C12B-9D12346045CD}"/>
              </a:ext>
            </a:extLst>
          </p:cNvPr>
          <p:cNvSpPr txBox="1"/>
          <p:nvPr/>
        </p:nvSpPr>
        <p:spPr>
          <a:xfrm>
            <a:off x="640080" y="4206240"/>
            <a:ext cx="5029200" cy="1045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2. Error Correction</a:t>
            </a:r>
          </a:p>
          <a:p>
            <a:pPr>
              <a:lnSpc>
                <a:spcPts val="1560"/>
              </a:lnSpc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sz="1200" dirty="0">
                <a:solidFill>
                  <a:schemeClr val="bg1">
                    <a:lumMod val="65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Go beyond raw predictions. Study residual errors to build second-stage correctors that extract an additional 20–40% accuracy gain from autocorrelated error patterns.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7A57D22-247F-B6FE-C3B3-EFCB661E0D7B}"/>
              </a:ext>
            </a:extLst>
          </p:cNvPr>
          <p:cNvSpPr/>
          <p:nvPr/>
        </p:nvSpPr>
        <p:spPr>
          <a:xfrm>
            <a:off x="6126480" y="1828800"/>
            <a:ext cx="5577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587965-0696-0F93-F08E-536A2217C860}"/>
              </a:ext>
            </a:extLst>
          </p:cNvPr>
          <p:cNvSpPr/>
          <p:nvPr/>
        </p:nvSpPr>
        <p:spPr>
          <a:xfrm>
            <a:off x="6126480" y="1828800"/>
            <a:ext cx="54864" cy="146304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9F5B73-EFCF-6E8C-3CBA-6D3C7293BE8B}"/>
              </a:ext>
            </a:extLst>
          </p:cNvPr>
          <p:cNvSpPr txBox="1"/>
          <p:nvPr/>
        </p:nvSpPr>
        <p:spPr>
          <a:xfrm>
            <a:off x="6309360" y="1920240"/>
            <a:ext cx="5212080" cy="1045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3. Production Deployment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sz="1200" dirty="0">
                <a:solidFill>
                  <a:schemeClr val="bg1">
                    <a:lumMod val="65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Package research into a web application deployed at </a:t>
            </a:r>
            <a:r>
              <a:rPr sz="1200" dirty="0" err="1">
                <a:solidFill>
                  <a:schemeClr val="bg1">
                    <a:lumMod val="65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GridCo's</a:t>
            </a:r>
            <a:r>
              <a:rPr sz="1200" dirty="0">
                <a:solidFill>
                  <a:schemeClr val="bg1">
                    <a:lumMod val="65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 dispatch </a:t>
            </a:r>
            <a:r>
              <a:rPr sz="1200" dirty="0" err="1">
                <a:solidFill>
                  <a:schemeClr val="bg1">
                    <a:lumMod val="65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centre</a:t>
            </a:r>
            <a:r>
              <a:rPr sz="1200" dirty="0">
                <a:solidFill>
                  <a:schemeClr val="bg1">
                    <a:lumMod val="65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 — replacing a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manual</a:t>
            </a:r>
            <a:r>
              <a:rPr sz="1200" dirty="0">
                <a:solidFill>
                  <a:schemeClr val="bg1">
                    <a:lumMod val="65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 Excel workflow with automated process. Keep operators in control.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9BB209-3545-88F8-204E-90088A66D6CF}"/>
              </a:ext>
            </a:extLst>
          </p:cNvPr>
          <p:cNvSpPr/>
          <p:nvPr/>
        </p:nvSpPr>
        <p:spPr>
          <a:xfrm>
            <a:off x="6126480" y="347472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650230-33B2-BD82-8124-33DAFA19AE46}"/>
              </a:ext>
            </a:extLst>
          </p:cNvPr>
          <p:cNvSpPr/>
          <p:nvPr/>
        </p:nvSpPr>
        <p:spPr>
          <a:xfrm>
            <a:off x="6126480" y="3474720"/>
            <a:ext cx="54864" cy="128016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76E0A2-A20A-A19E-93B6-D503F3000684}"/>
              </a:ext>
            </a:extLst>
          </p:cNvPr>
          <p:cNvSpPr txBox="1"/>
          <p:nvPr/>
        </p:nvSpPr>
        <p:spPr>
          <a:xfrm>
            <a:off x="6309360" y="3566160"/>
            <a:ext cx="5212080" cy="1045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4. Sustainable AI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sz="1200" dirty="0">
                <a:solidFill>
                  <a:schemeClr val="bg1">
                    <a:lumMod val="65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Prove that accurate grid forecasting does not require GPU infrastructure or massive energy budgets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Aim at energy efficient ai oriented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archiectures</a:t>
            </a:r>
            <a:endParaRPr sz="1200" dirty="0">
              <a:solidFill>
                <a:schemeClr val="bg1">
                  <a:lumMod val="65000"/>
                </a:schemeClr>
              </a:solidFill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010E361-0D73-CC5C-46ED-26060B8EB31E}"/>
              </a:ext>
            </a:extLst>
          </p:cNvPr>
          <p:cNvSpPr/>
          <p:nvPr/>
        </p:nvSpPr>
        <p:spPr>
          <a:xfrm>
            <a:off x="6126480" y="4937760"/>
            <a:ext cx="5577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31E2FC-3DC5-09BF-0172-AD138EA7CE08}"/>
              </a:ext>
            </a:extLst>
          </p:cNvPr>
          <p:cNvSpPr/>
          <p:nvPr/>
        </p:nvSpPr>
        <p:spPr>
          <a:xfrm>
            <a:off x="6126480" y="4937760"/>
            <a:ext cx="54864" cy="109728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BBBAA5-9685-3C4C-D51C-D43CBEF6BE7D}"/>
              </a:ext>
            </a:extLst>
          </p:cNvPr>
          <p:cNvSpPr txBox="1"/>
          <p:nvPr/>
        </p:nvSpPr>
        <p:spPr>
          <a:xfrm>
            <a:off x="6309360" y="5029200"/>
            <a:ext cx="5212080" cy="1045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5. Insights for West African Grids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sz="1200" dirty="0">
                <a:solidFill>
                  <a:schemeClr val="bg1">
                    <a:lumMod val="65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Draw </a:t>
            </a:r>
            <a:r>
              <a:rPr sz="1200" dirty="0" err="1">
                <a:solidFill>
                  <a:schemeClr val="bg1">
                    <a:lumMod val="65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generalisable</a:t>
            </a:r>
            <a:r>
              <a:rPr sz="1200" dirty="0">
                <a:solidFill>
                  <a:schemeClr val="bg1">
                    <a:lumMod val="65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 lessons about load forecasting in rapidly developing electricity grids where stationary data assumptions fail.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9B269B-AA4A-E9AB-8903-65E0203F6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F9B14B-5A4D-B673-45A3-BA1CF7430AE1}"/>
              </a:ext>
            </a:extLst>
          </p:cNvPr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E91133-015A-4E0D-3AB6-0960BBDD2B24}"/>
              </a:ext>
            </a:extLst>
          </p:cNvPr>
          <p:cNvSpPr txBox="1"/>
          <p:nvPr/>
        </p:nvSpPr>
        <p:spPr>
          <a:xfrm>
            <a:off x="617220" y="370425"/>
            <a:ext cx="41456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0</a:t>
            </a: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2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 /  The Data  —  70k hours from Ghana's national grid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909A8B-1ED0-13B1-299B-B615A3BB07C5}"/>
              </a:ext>
            </a:extLst>
          </p:cNvPr>
          <p:cNvSpPr txBox="1"/>
          <p:nvPr/>
        </p:nvSpPr>
        <p:spPr>
          <a:xfrm>
            <a:off x="457200" y="731520"/>
            <a:ext cx="11247120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What the Data Tells Us About Ghana's Growing Grid.</a:t>
            </a:r>
          </a:p>
        </p:txBody>
      </p:sp>
      <p:pic>
        <p:nvPicPr>
          <p:cNvPr id="5" name="Picture 4" descr="demand_distribution.png">
            <a:extLst>
              <a:ext uri="{FF2B5EF4-FFF2-40B4-BE49-F238E27FC236}">
                <a16:creationId xmlns:a16="http://schemas.microsoft.com/office/drawing/2014/main" id="{A14E418A-B6AC-8BC4-82A1-F298F6B3B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5943600" cy="34747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17BBC98-9395-E825-84FB-1E3A5E19F653}"/>
              </a:ext>
            </a:extLst>
          </p:cNvPr>
          <p:cNvSpPr/>
          <p:nvPr/>
        </p:nvSpPr>
        <p:spPr>
          <a:xfrm>
            <a:off x="6675120" y="1737360"/>
            <a:ext cx="5029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37C982-6145-FF9D-AB5E-EE31A182067C}"/>
              </a:ext>
            </a:extLst>
          </p:cNvPr>
          <p:cNvSpPr/>
          <p:nvPr/>
        </p:nvSpPr>
        <p:spPr>
          <a:xfrm>
            <a:off x="6675120" y="1737360"/>
            <a:ext cx="54864" cy="22860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A7F4AB-DE4B-C81C-66CE-60ED55C4189D}"/>
              </a:ext>
            </a:extLst>
          </p:cNvPr>
          <p:cNvSpPr txBox="1"/>
          <p:nvPr/>
        </p:nvSpPr>
        <p:spPr>
          <a:xfrm>
            <a:off x="6858000" y="1833500"/>
            <a:ext cx="4572000" cy="2482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1000"/>
              </a:spcAft>
              <a:defRPr sz="2000" b="1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Here's What We Found</a:t>
            </a:r>
          </a:p>
          <a:p>
            <a:pPr marL="285750" indent="-285750" algn="l">
              <a:lnSpc>
                <a:spcPts val="169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3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Demand grew 2.5× in 8 years</a:t>
            </a: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 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. </a:t>
            </a:r>
            <a:endParaRPr lang="en-US" dirty="0"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marL="285750" indent="-285750">
              <a:lnSpc>
                <a:spcPts val="169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300" b="0">
                <a:solidFill>
                  <a:srgbClr val="444444"/>
                </a:solidFill>
                <a:latin typeface="Calibri"/>
              </a:defRPr>
            </a:pP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Applying state of the art models did not work always because of distribution shift</a:t>
            </a:r>
          </a:p>
          <a:p>
            <a:pPr marL="285750" indent="-285750">
              <a:lnSpc>
                <a:spcPts val="169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300" b="0">
                <a:solidFill>
                  <a:srgbClr val="444444"/>
                </a:solidFill>
                <a:latin typeface="Calibri"/>
              </a:defRPr>
            </a:pP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Online Correction gives the largest short term gains</a:t>
            </a:r>
          </a:p>
          <a:p>
            <a:pPr marL="285750" indent="-285750">
              <a:lnSpc>
                <a:spcPts val="169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300" b="0">
                <a:solidFill>
                  <a:srgbClr val="444444"/>
                </a:solidFill>
                <a:latin typeface="Calibri"/>
              </a:defRPr>
            </a:pPr>
            <a:endParaRPr lang="en-US" dirty="0"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marL="285750" indent="-285750" algn="l">
              <a:lnSpc>
                <a:spcPts val="169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300" b="0">
                <a:solidFill>
                  <a:srgbClr val="444444"/>
                </a:solidFill>
                <a:latin typeface="Calibri"/>
              </a:defRPr>
            </a:pPr>
            <a:endParaRPr lang="en-US" dirty="0"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253D88-9F16-91C4-BEBB-2B97FB58D0C4}"/>
              </a:ext>
            </a:extLst>
          </p:cNvPr>
          <p:cNvSpPr/>
          <p:nvPr/>
        </p:nvSpPr>
        <p:spPr>
          <a:xfrm>
            <a:off x="6675120" y="4206240"/>
            <a:ext cx="5029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D48AF-32F4-D706-2995-EF6322C6C233}"/>
              </a:ext>
            </a:extLst>
          </p:cNvPr>
          <p:cNvSpPr txBox="1"/>
          <p:nvPr/>
        </p:nvSpPr>
        <p:spPr>
          <a:xfrm>
            <a:off x="6903720" y="4223506"/>
            <a:ext cx="4572000" cy="158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8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Patterns That Jumped Out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→  Daily rhythm: Morning ramp. Evening peak. Overnight trough.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→  Weekly cycle: Weekdays high. Weekends low.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→  Seasons: Dry season ≠ wet season.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→  Growth: Upward drift across all 8 years.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BDC5CF-AA2B-9601-8E25-334675CBF8CC}"/>
              </a:ext>
            </a:extLst>
          </p:cNvPr>
          <p:cNvSpPr txBox="1"/>
          <p:nvPr/>
        </p:nvSpPr>
        <p:spPr>
          <a:xfrm>
            <a:off x="457200" y="640080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rPr>
                <a:latin typeface="Poppins" panose="00000800000000000000" pitchFamily="2" charset="0"/>
                <a:cs typeface="Poppins" panose="00000800000000000000" pitchFamily="2" charset="0"/>
              </a:rPr>
              <a:t>Source: ECG SCADA  ·  12.4% CAGR = Compound Annual Growth Rate 2018–2026</a:t>
            </a:r>
          </a:p>
        </p:txBody>
      </p:sp>
    </p:spTree>
    <p:extLst>
      <p:ext uri="{BB962C8B-B14F-4D97-AF65-F5344CB8AC3E}">
        <p14:creationId xmlns:p14="http://schemas.microsoft.com/office/powerpoint/2010/main" val="3515744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4EE442-DB3E-BE04-BD02-7D1026930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AC6EB9F-CEFB-F9FB-EA8D-E793A4C2666F}"/>
              </a:ext>
            </a:extLst>
          </p:cNvPr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47C4B0-A35F-2E7F-36E0-6C0B68A8BFE3}"/>
              </a:ext>
            </a:extLst>
          </p:cNvPr>
          <p:cNvSpPr txBox="1"/>
          <p:nvPr/>
        </p:nvSpPr>
        <p:spPr>
          <a:xfrm>
            <a:off x="640080" y="274320"/>
            <a:ext cx="433644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0</a:t>
            </a: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3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  /  Current Practice  —  The operator's existing workflow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FFBAC0-E5CA-51E2-9B8D-B6E880C4A52F}"/>
              </a:ext>
            </a:extLst>
          </p:cNvPr>
          <p:cNvSpPr txBox="1"/>
          <p:nvPr/>
        </p:nvSpPr>
        <p:spPr>
          <a:xfrm>
            <a:off x="457200" y="731520"/>
            <a:ext cx="11247120" cy="55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rPr sz="2800" dirty="0" err="1">
                <a:latin typeface="Poppins" panose="00000800000000000000" pitchFamily="2" charset="0"/>
                <a:cs typeface="Poppins" panose="00000800000000000000" pitchFamily="2" charset="0"/>
              </a:rPr>
              <a:t>GridCo's</a:t>
            </a:r>
            <a:r>
              <a:rPr sz="2800" dirty="0">
                <a:latin typeface="Poppins" panose="00000800000000000000" pitchFamily="2" charset="0"/>
                <a:cs typeface="Poppins" panose="00000800000000000000" pitchFamily="2" charset="0"/>
              </a:rPr>
              <a:t> Current Approach: Manual Heuristics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1EE2B7-CA73-2DDC-34EB-D2BE5875EE68}"/>
              </a:ext>
            </a:extLst>
          </p:cNvPr>
          <p:cNvSpPr/>
          <p:nvPr/>
        </p:nvSpPr>
        <p:spPr>
          <a:xfrm>
            <a:off x="457200" y="1828800"/>
            <a:ext cx="3474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EAED6F-89B4-8DDF-000F-734DC1B0257C}"/>
              </a:ext>
            </a:extLst>
          </p:cNvPr>
          <p:cNvSpPr txBox="1"/>
          <p:nvPr/>
        </p:nvSpPr>
        <p:spPr>
          <a:xfrm>
            <a:off x="640080" y="1920240"/>
            <a:ext cx="3108960" cy="227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What They Do Today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Dispatchers use Excel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 with a similar day heuristics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endParaRPr lang="en-US" dirty="0">
              <a:solidFill>
                <a:schemeClr val="bg1">
                  <a:lumMod val="50000"/>
                </a:schemeClr>
              </a:solidFill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No learning from 70k hours of data.</a:t>
            </a:r>
            <a:endParaRPr lang="en-US" dirty="0">
              <a:solidFill>
                <a:schemeClr val="bg1">
                  <a:lumMod val="50000"/>
                </a:schemeClr>
              </a:solidFill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endParaRPr lang="en-US" dirty="0">
              <a:solidFill>
                <a:schemeClr val="bg1">
                  <a:lumMod val="50000"/>
                </a:schemeClr>
              </a:solidFill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endParaRPr lang="en-US" dirty="0">
              <a:solidFill>
                <a:schemeClr val="bg1">
                  <a:lumMod val="50000"/>
                </a:schemeClr>
              </a:solidFill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 Each forecast starts from scratch.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3AFC4E-EC09-A1D6-3486-08C0AEE211B7}"/>
              </a:ext>
            </a:extLst>
          </p:cNvPr>
          <p:cNvSpPr/>
          <p:nvPr/>
        </p:nvSpPr>
        <p:spPr>
          <a:xfrm>
            <a:off x="4206240" y="1828800"/>
            <a:ext cx="3474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C67147-B687-50BF-C009-A7BF8DB74696}"/>
              </a:ext>
            </a:extLst>
          </p:cNvPr>
          <p:cNvSpPr/>
          <p:nvPr/>
        </p:nvSpPr>
        <p:spPr>
          <a:xfrm>
            <a:off x="4206240" y="1828800"/>
            <a:ext cx="54864" cy="256032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4E95B2-E2A9-84BD-1FB6-35D240AE223A}"/>
              </a:ext>
            </a:extLst>
          </p:cNvPr>
          <p:cNvSpPr txBox="1"/>
          <p:nvPr/>
        </p:nvSpPr>
        <p:spPr>
          <a:xfrm>
            <a:off x="4389120" y="1920240"/>
            <a:ext cx="3108960" cy="2084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We Tested Their Approach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Digitized the similar-day method as a KNN model. </a:t>
            </a:r>
            <a:endParaRPr lang="en-US" dirty="0">
              <a:solidFill>
                <a:schemeClr val="bg1">
                  <a:lumMod val="50000"/>
                </a:schemeClr>
              </a:solidFill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Result: </a:t>
            </a:r>
            <a:r>
              <a:rPr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141 MW MAE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 ~5% error  </a:t>
            </a:r>
            <a:r>
              <a:rPr dirty="0">
                <a:solidFill>
                  <a:schemeClr val="bg1">
                    <a:lumMod val="50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.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  </a:t>
            </a:r>
            <a:endParaRPr dirty="0">
              <a:solidFill>
                <a:schemeClr val="bg1">
                  <a:lumMod val="50000"/>
                </a:schemeClr>
              </a:solidFill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44444"/>
                </a:solidFill>
                <a:latin typeface="Calibri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Conclusion: Data-driven methods outperform human heuristics when given enough history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28B054-076A-34B7-5106-B27BA995B200}"/>
              </a:ext>
            </a:extLst>
          </p:cNvPr>
          <p:cNvSpPr/>
          <p:nvPr/>
        </p:nvSpPr>
        <p:spPr>
          <a:xfrm>
            <a:off x="7955279" y="1828800"/>
            <a:ext cx="3749039" cy="2560320"/>
          </a:xfrm>
          <a:prstGeom prst="rect">
            <a:avLst/>
          </a:prstGeom>
          <a:solidFill>
            <a:srgbClr val="F2F7EE"/>
          </a:solidFill>
          <a:ln w="12700">
            <a:solidFill>
              <a:srgbClr val="C8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ABD367-0783-5B5E-474B-B3057C1F6298}"/>
              </a:ext>
            </a:extLst>
          </p:cNvPr>
          <p:cNvSpPr txBox="1"/>
          <p:nvPr/>
        </p:nvSpPr>
        <p:spPr>
          <a:xfrm>
            <a:off x="8138160" y="1920240"/>
            <a:ext cx="3383280" cy="199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So What Did We Build?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A system that complements the operator </a:t>
            </a:r>
            <a:endParaRPr lang="en-US" dirty="0">
              <a:solidFill>
                <a:schemeClr val="bg1">
                  <a:lumMod val="50000"/>
                </a:schemeClr>
              </a:solidFill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Forecast auto-generates in ~1 minute. Fills the dispatch schedule automatically.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44444"/>
                </a:solidFill>
                <a:latin typeface="Calibri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Operator stays in control. The forecast is a suggestion — accept, edit, or override.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CF15BB-A2BE-7C9C-3ADC-E0420C33ACE3}"/>
              </a:ext>
            </a:extLst>
          </p:cNvPr>
          <p:cNvSpPr txBox="1"/>
          <p:nvPr/>
        </p:nvSpPr>
        <p:spPr>
          <a:xfrm>
            <a:off x="457200" y="640080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rPr>
                <a:latin typeface="Poppins" panose="00000800000000000000" pitchFamily="2" charset="0"/>
                <a:cs typeface="Poppins" panose="00000800000000000000" pitchFamily="2" charset="0"/>
              </a:rPr>
              <a:t>KNN = k-Nearest Neighbours  ·  MAE = Mean Absolute Error</a:t>
            </a:r>
          </a:p>
        </p:txBody>
      </p:sp>
    </p:spTree>
    <p:extLst>
      <p:ext uri="{BB962C8B-B14F-4D97-AF65-F5344CB8AC3E}">
        <p14:creationId xmlns:p14="http://schemas.microsoft.com/office/powerpoint/2010/main" val="3831375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F0B942-F51C-BF1E-5A57-BC5DAADB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2987F75-1E41-67BA-2E90-5445DBE390BA}"/>
              </a:ext>
            </a:extLst>
          </p:cNvPr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DD00F-2400-9DFD-9837-42932F1E0DA9}"/>
              </a:ext>
            </a:extLst>
          </p:cNvPr>
          <p:cNvSpPr txBox="1"/>
          <p:nvPr/>
        </p:nvSpPr>
        <p:spPr>
          <a:xfrm>
            <a:off x="640080" y="274320"/>
            <a:ext cx="445025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rPr>
                <a:latin typeface="Poppins" panose="00000800000000000000" pitchFamily="2" charset="0"/>
                <a:cs typeface="Poppins" panose="00000800000000000000" pitchFamily="2" charset="0"/>
              </a:rPr>
              <a:t>03  /  Foundations  —  Understanding data before modelling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0B9185-23F6-A6CF-3FD1-FD2163540005}"/>
              </a:ext>
            </a:extLst>
          </p:cNvPr>
          <p:cNvSpPr txBox="1"/>
          <p:nvPr/>
        </p:nvSpPr>
        <p:spPr>
          <a:xfrm>
            <a:off x="457200" y="731520"/>
            <a:ext cx="11247120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rPr>
                <a:latin typeface="Poppins" panose="00000800000000000000" pitchFamily="2" charset="0"/>
                <a:cs typeface="Poppins" panose="00000800000000000000" pitchFamily="2" charset="0"/>
              </a:rPr>
              <a:t>We Started Simple. Here's What We Found First.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49CA1-ADC2-197B-A4BB-4A1EB9883E46}"/>
              </a:ext>
            </a:extLst>
          </p:cNvPr>
          <p:cNvSpPr/>
          <p:nvPr/>
        </p:nvSpPr>
        <p:spPr>
          <a:xfrm>
            <a:off x="457200" y="1828799"/>
            <a:ext cx="5276177" cy="3302493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18C9AD-A0D8-EC86-9DBD-5383152E7436}"/>
              </a:ext>
            </a:extLst>
          </p:cNvPr>
          <p:cNvSpPr txBox="1"/>
          <p:nvPr/>
        </p:nvSpPr>
        <p:spPr>
          <a:xfrm>
            <a:off x="640080" y="1920240"/>
            <a:ext cx="5029200" cy="2828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Patterns Jumped Out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→  Daily rhythm: Morning ramp. Evening peak. Overnight trough. Every day.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→  Weekly rhythm: Weekdays high. Weekends low. Predictable.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→  Seasons: Dry season ≠ wet season. Load changes with the calendar.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→  Growth: Upward drift across all 8 years. +12.4% CAGR in the raw data.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77777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On temperature: It affects load — but it's slow-moving and already baked into hour and month features.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365635-37DB-E400-A92B-850C87CA3E9E}"/>
              </a:ext>
            </a:extLst>
          </p:cNvPr>
          <p:cNvSpPr/>
          <p:nvPr/>
        </p:nvSpPr>
        <p:spPr>
          <a:xfrm>
            <a:off x="6126480" y="1828800"/>
            <a:ext cx="45719" cy="3302492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7F4797-D18C-2908-DA58-69B10CF83BB6}"/>
              </a:ext>
            </a:extLst>
          </p:cNvPr>
          <p:cNvSpPr txBox="1"/>
          <p:nvPr/>
        </p:nvSpPr>
        <p:spPr>
          <a:xfrm>
            <a:off x="6309360" y="1920240"/>
            <a:ext cx="5276176" cy="1764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Resisted the Urge to Go Big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Most projects reach for deep learning first. We didn't. We asked: how far can simple methods take us?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558B2F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First Try:  Classical decomposition (trend + seasonality)  →  3–4% MAPE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558B2F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Second Try:  Weighted trend (yesterday + last week)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A46F98-D8C0-B816-6284-90F6C1CDC1D3}"/>
              </a:ext>
            </a:extLst>
          </p:cNvPr>
          <p:cNvSpPr txBox="1"/>
          <p:nvPr/>
        </p:nvSpPr>
        <p:spPr>
          <a:xfrm>
            <a:off x="457200" y="640080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777777"/>
                </a:solidFill>
                <a:latin typeface="Calibri"/>
              </a:defRPr>
            </a:pPr>
            <a:r>
              <a:rPr>
                <a:latin typeface="Poppins" panose="00000800000000000000" pitchFamily="2" charset="0"/>
                <a:cs typeface="Poppins" panose="00000800000000000000" pitchFamily="2" charset="0"/>
              </a:rPr>
              <a:t>MAPE = Mean Absolute Percentage Error  ·  L1 = last 24 hours  ·  L7 = last 7 days</a:t>
            </a:r>
          </a:p>
        </p:txBody>
      </p:sp>
    </p:spTree>
    <p:extLst>
      <p:ext uri="{BB962C8B-B14F-4D97-AF65-F5344CB8AC3E}">
        <p14:creationId xmlns:p14="http://schemas.microsoft.com/office/powerpoint/2010/main" val="3260003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67913D-4D8F-D396-3A00-C4F0D72B0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0292EA-A636-8922-9441-4CC3FBEF26D8}"/>
              </a:ext>
            </a:extLst>
          </p:cNvPr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A8BACD-22EE-D308-7516-088A4590C2CC}"/>
              </a:ext>
            </a:extLst>
          </p:cNvPr>
          <p:cNvSpPr txBox="1"/>
          <p:nvPr/>
        </p:nvSpPr>
        <p:spPr>
          <a:xfrm>
            <a:off x="617220" y="411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rPr dirty="0"/>
              <a:t>04  /  Benchmarking  —  6-fold expanding-window CV across 8 years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C1E88-D31C-BFA3-8E72-6B26A08B5918}"/>
              </a:ext>
            </a:extLst>
          </p:cNvPr>
          <p:cNvSpPr txBox="1"/>
          <p:nvPr/>
        </p:nvSpPr>
        <p:spPr>
          <a:xfrm>
            <a:off x="457200" y="731520"/>
            <a:ext cx="11247120" cy="552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rPr lang="en-US" sz="2800" dirty="0"/>
              <a:t>Simple Linear Decomposition(</a:t>
            </a:r>
            <a:r>
              <a:rPr lang="en-US" sz="2800" dirty="0" err="1"/>
              <a:t>Dlinear</a:t>
            </a:r>
            <a:r>
              <a:rPr lang="en-US" sz="2800" dirty="0"/>
              <a:t>)</a:t>
            </a:r>
            <a:r>
              <a:rPr sz="2800" dirty="0"/>
              <a:t> Beat </a:t>
            </a:r>
            <a:r>
              <a:rPr lang="en-US" sz="2800" dirty="0"/>
              <a:t>state of the art models</a:t>
            </a:r>
            <a:endParaRPr sz="28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8A2064D-B654-DBA1-28D0-368BA8467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710328"/>
              </p:ext>
            </p:extLst>
          </p:nvPr>
        </p:nvGraphicFramePr>
        <p:xfrm>
          <a:off x="457200" y="1828800"/>
          <a:ext cx="5486400" cy="201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9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AAAAA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AAAAA"/>
                          </a:solidFill>
                          <a:latin typeface="Calibri"/>
                        </a:defRPr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Average</a:t>
                      </a:r>
                      <a:r>
                        <a:rPr dirty="0">
                          <a:solidFill>
                            <a:schemeClr val="bg1"/>
                          </a:solidFill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 MAE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(across all folds)</a:t>
                      </a:r>
                      <a:endParaRPr dirty="0">
                        <a:solidFill>
                          <a:schemeClr val="bg1"/>
                        </a:solidFill>
                        <a:latin typeface="Poppins" panose="00000800000000000000" pitchFamily="2" charset="0"/>
                        <a:cs typeface="Poppins" panose="000008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AAAAA"/>
                          </a:solidFill>
                          <a:latin typeface="Calibri"/>
                        </a:defRPr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+ correction</a:t>
                      </a:r>
                      <a:endParaRPr dirty="0">
                        <a:solidFill>
                          <a:schemeClr val="bg1"/>
                        </a:solidFill>
                        <a:latin typeface="Poppins" panose="00000800000000000000" pitchFamily="2" charset="0"/>
                        <a:cs typeface="Poppins" panose="000008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AAAAA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Gain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691E"/>
                          </a:solidFill>
                          <a:latin typeface="Calibri"/>
                        </a:defRPr>
                      </a:pPr>
                      <a:r>
                        <a:rPr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DLinear  ·  36K 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691E"/>
                          </a:solidFill>
                          <a:latin typeface="Calibri"/>
                        </a:defRPr>
                      </a:pPr>
                      <a:r>
                        <a:rPr dirty="0"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91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rPr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67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rPr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−26%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rPr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CNN (WaveNet)  ·  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rPr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97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rPr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74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rPr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−23%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rPr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LSTM  ·  840K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rPr dirty="0"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102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rPr dirty="0"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79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rPr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−23%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rPr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Transformer  ·  2.1M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rPr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109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rPr dirty="0"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82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rPr dirty="0">
                          <a:latin typeface="Poppins" panose="00000800000000000000" pitchFamily="2" charset="0"/>
                          <a:cs typeface="Poppins" panose="00000800000000000000" pitchFamily="2" charset="0"/>
                        </a:rPr>
                        <a:t>−24%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8" name="Picture 17" descr="fold_mae.png">
            <a:extLst>
              <a:ext uri="{FF2B5EF4-FFF2-40B4-BE49-F238E27FC236}">
                <a16:creationId xmlns:a16="http://schemas.microsoft.com/office/drawing/2014/main" id="{4EF85E29-4420-1A39-E89D-4E961BC85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5100221" cy="221009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E5BDF0D-9A7C-6BC6-44AD-F7F96ACC3861}"/>
              </a:ext>
            </a:extLst>
          </p:cNvPr>
          <p:cNvSpPr/>
          <p:nvPr/>
        </p:nvSpPr>
        <p:spPr>
          <a:xfrm>
            <a:off x="6400800" y="2011680"/>
            <a:ext cx="5486400" cy="3852909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E286A0-738E-2774-B382-A61C05C6F5EB}"/>
              </a:ext>
            </a:extLst>
          </p:cNvPr>
          <p:cNvSpPr/>
          <p:nvPr/>
        </p:nvSpPr>
        <p:spPr>
          <a:xfrm>
            <a:off x="6217920" y="1828800"/>
            <a:ext cx="54864" cy="438912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E53222-750E-D54A-FF06-248E47882BB1}"/>
              </a:ext>
            </a:extLst>
          </p:cNvPr>
          <p:cNvSpPr txBox="1"/>
          <p:nvPr/>
        </p:nvSpPr>
        <p:spPr>
          <a:xfrm>
            <a:off x="6400800" y="2011680"/>
            <a:ext cx="5120640" cy="2803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Why </a:t>
            </a:r>
            <a:r>
              <a:rPr dirty="0" err="1">
                <a:latin typeface="Poppins" panose="00000800000000000000" pitchFamily="2" charset="0"/>
                <a:cs typeface="Poppins" panose="00000800000000000000" pitchFamily="2" charset="0"/>
              </a:rPr>
              <a:t>DLinear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 Won</a:t>
            </a:r>
          </a:p>
          <a:p>
            <a:pPr marL="285750" indent="-285750"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 sz="13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 It splits load into two parts:</a:t>
            </a:r>
          </a:p>
          <a:p>
            <a:pPr marL="285750" indent="-285750" algn="l">
              <a:lnSpc>
                <a:spcPts val="169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defRPr sz="13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Trend — gradual direction (is demand going up or down?)</a:t>
            </a:r>
          </a:p>
          <a:p>
            <a:pPr marL="285750" indent="-285750" algn="l">
              <a:lnSpc>
                <a:spcPts val="169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  <a:defRPr sz="13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 Seasonal — daily/weekly rhythm (morning peak, weekend dip)</a:t>
            </a:r>
          </a:p>
          <a:p>
            <a:pPr marL="285750" indent="-285750" algn="l">
              <a:lnSpc>
                <a:spcPts val="169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  <a:defRPr sz="13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Each gets a learned weight plus calendar info. They sum to the forecast. No attention. No recurrence. No convolutions.</a:t>
            </a:r>
          </a:p>
          <a:p>
            <a:pPr marL="285750" indent="-285750"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300" b="0">
                <a:solidFill>
                  <a:srgbClr val="444444"/>
                </a:solidFill>
                <a:latin typeface="Calibri"/>
              </a:defRPr>
            </a:pPr>
            <a:r>
              <a:rPr dirty="0">
                <a:solidFill>
                  <a:schemeClr val="accent6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Why it works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: Load patterns aren't that complex. </a:t>
            </a:r>
          </a:p>
        </p:txBody>
      </p:sp>
    </p:spTree>
    <p:extLst>
      <p:ext uri="{BB962C8B-B14F-4D97-AF65-F5344CB8AC3E}">
        <p14:creationId xmlns:p14="http://schemas.microsoft.com/office/powerpoint/2010/main" val="4033276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4AA48-6BFD-7B4C-D47C-E80F5565F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C7DD7D3-ADE2-C9CD-1FEF-CAF80E02E504}"/>
              </a:ext>
            </a:extLst>
          </p:cNvPr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BA9BC-82BC-33BA-F834-84E2BF118267}"/>
              </a:ext>
            </a:extLst>
          </p:cNvPr>
          <p:cNvSpPr txBox="1"/>
          <p:nvPr/>
        </p:nvSpPr>
        <p:spPr>
          <a:xfrm>
            <a:off x="512064" y="436077"/>
            <a:ext cx="384752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rPr>
                <a:latin typeface="Poppins" panose="00000800000000000000" pitchFamily="2" charset="0"/>
                <a:cs typeface="Poppins" panose="00000800000000000000" pitchFamily="2" charset="0"/>
              </a:rPr>
              <a:t>06  /  Correction  —  Learning from prediction errors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0543C6-F4F6-1371-815D-DAD907B01E9D}"/>
              </a:ext>
            </a:extLst>
          </p:cNvPr>
          <p:cNvSpPr txBox="1"/>
          <p:nvPr/>
        </p:nvSpPr>
        <p:spPr>
          <a:xfrm>
            <a:off x="457200" y="731520"/>
            <a:ext cx="11247120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Good Results — But Errors Told a Different Story.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6BA7C7-AF9E-28AA-F668-8C7FD1A7A7DB}"/>
              </a:ext>
            </a:extLst>
          </p:cNvPr>
          <p:cNvSpPr/>
          <p:nvPr/>
        </p:nvSpPr>
        <p:spPr>
          <a:xfrm>
            <a:off x="472440" y="1640443"/>
            <a:ext cx="5486400" cy="1853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DF6A69-6754-E8D3-7E87-E65F3C838DC0}"/>
              </a:ext>
            </a:extLst>
          </p:cNvPr>
          <p:cNvSpPr/>
          <p:nvPr/>
        </p:nvSpPr>
        <p:spPr>
          <a:xfrm>
            <a:off x="457200" y="1828800"/>
            <a:ext cx="54864" cy="13716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57D217-4FD9-66F5-DDF7-CDD2276956DA}"/>
              </a:ext>
            </a:extLst>
          </p:cNvPr>
          <p:cNvSpPr txBox="1"/>
          <p:nvPr/>
        </p:nvSpPr>
        <p:spPr>
          <a:xfrm>
            <a:off x="640080" y="1920240"/>
            <a:ext cx="5120640" cy="145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Errors Are Not Random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Normally a good model's errors look like noise. Ours didn't. </a:t>
            </a:r>
            <a:endParaRPr lang="en-US" dirty="0"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endParaRPr lang="en-US" dirty="0"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Correlation of 0.79 between consecutive hours.</a:t>
            </a: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(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 If we over-predicted hour 0, we'd over-predict hour 1 too</a:t>
            </a: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 ) 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. Errors have structure. That makes them learnable.</a:t>
            </a:r>
          </a:p>
        </p:txBody>
      </p:sp>
      <p:pic>
        <p:nvPicPr>
          <p:cNvPr id="21" name="Picture 20" descr="error_correction.png">
            <a:extLst>
              <a:ext uri="{FF2B5EF4-FFF2-40B4-BE49-F238E27FC236}">
                <a16:creationId xmlns:a16="http://schemas.microsoft.com/office/drawing/2014/main" id="{B686C542-3B59-FD60-2041-40B33BF4E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40040"/>
            <a:ext cx="5486400" cy="273816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F9A5BA9-041F-E823-57AA-B8B2530C8C08}"/>
              </a:ext>
            </a:extLst>
          </p:cNvPr>
          <p:cNvSpPr txBox="1"/>
          <p:nvPr/>
        </p:nvSpPr>
        <p:spPr>
          <a:xfrm>
            <a:off x="640080" y="3893334"/>
            <a:ext cx="9817815" cy="880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11111"/>
                </a:solidFill>
                <a:latin typeface="Calibri"/>
              </a:defRPr>
            </a:pPr>
            <a:r>
              <a:rPr sz="1050" dirty="0">
                <a:latin typeface="Poppins" panose="00000800000000000000" pitchFamily="2" charset="0"/>
                <a:cs typeface="Poppins" panose="00000800000000000000" pitchFamily="2" charset="0"/>
              </a:rPr>
              <a:t>TIDE </a:t>
            </a:r>
            <a:r>
              <a:rPr lang="en-US" sz="1050" dirty="0">
                <a:latin typeface="Poppins" panose="00000800000000000000" pitchFamily="2" charset="0"/>
                <a:cs typeface="Poppins" panose="00000800000000000000" pitchFamily="2" charset="0"/>
              </a:rPr>
              <a:t>(Temporal integration of drift errors) </a:t>
            </a:r>
            <a:r>
              <a:rPr sz="1050" dirty="0">
                <a:latin typeface="Poppins" panose="00000800000000000000" pitchFamily="2" charset="0"/>
                <a:cs typeface="Poppins" panose="00000800000000000000" pitchFamily="2" charset="0"/>
              </a:rPr>
              <a:t>— A Smart Filter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sz="900" dirty="0">
                <a:latin typeface="Poppins" panose="00000800000000000000" pitchFamily="2" charset="0"/>
                <a:cs typeface="Poppins" panose="00000800000000000000" pitchFamily="2" charset="0"/>
              </a:rPr>
              <a:t>Zero parameters. No training. Dampens recent errors using a weighted average. Learns how much to trust the latest mistake vs. the long-term trend.</a:t>
            </a: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77500"/>
                </a:solidFill>
                <a:latin typeface="Calibri"/>
              </a:defRPr>
            </a:pPr>
            <a:r>
              <a:rPr sz="1000" dirty="0">
                <a:latin typeface="Poppins" panose="00000800000000000000" pitchFamily="2" charset="0"/>
                <a:cs typeface="Poppins" panose="00000800000000000000" pitchFamily="2" charset="0"/>
              </a:rPr>
              <a:t>Result: 95.5 MW  (−20.9%</a:t>
            </a:r>
            <a:r>
              <a:rPr lang="en-US" sz="1000" dirty="0">
                <a:latin typeface="Poppins" panose="00000800000000000000" pitchFamily="2" charset="0"/>
                <a:cs typeface="Poppins" panose="00000800000000000000" pitchFamily="2" charset="0"/>
              </a:rPr>
              <a:t> decrease over base </a:t>
            </a:r>
            <a:r>
              <a:rPr lang="en-US" sz="1000" dirty="0" err="1">
                <a:latin typeface="Poppins" panose="00000800000000000000" pitchFamily="2" charset="0"/>
                <a:cs typeface="Poppins" panose="00000800000000000000" pitchFamily="2" charset="0"/>
              </a:rPr>
              <a:t>dlinear</a:t>
            </a:r>
            <a:r>
              <a:rPr lang="en-US" sz="1000" dirty="0">
                <a:latin typeface="Poppins" panose="00000800000000000000" pitchFamily="2" charset="0"/>
                <a:cs typeface="Poppins" panose="00000800000000000000" pitchFamily="2" charset="0"/>
              </a:rPr>
              <a:t> model</a:t>
            </a:r>
            <a:r>
              <a:rPr sz="1000" dirty="0">
                <a:latin typeface="Poppins" panose="00000800000000000000" pitchFamily="2" charset="0"/>
                <a:cs typeface="Poppins" panose="00000800000000000000" pitchFamily="2" charset="0"/>
              </a:rPr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0E44C3-2F5D-F061-76CC-F9DC2FBDB12C}"/>
              </a:ext>
            </a:extLst>
          </p:cNvPr>
          <p:cNvSpPr txBox="1"/>
          <p:nvPr/>
        </p:nvSpPr>
        <p:spPr>
          <a:xfrm>
            <a:off x="640080" y="4777631"/>
            <a:ext cx="11415796" cy="878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11111"/>
                </a:solidFill>
                <a:latin typeface="Calibri"/>
              </a:defRPr>
            </a:pPr>
            <a:r>
              <a:rPr sz="1200" dirty="0">
                <a:latin typeface="Poppins" panose="00000800000000000000" pitchFamily="2" charset="0"/>
                <a:cs typeface="Poppins" panose="00000800000000000000" pitchFamily="2" charset="0"/>
              </a:rPr>
              <a:t>ARD</a:t>
            </a: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(Automatic Relevance Determination) </a:t>
            </a:r>
            <a:r>
              <a:rPr sz="1200" dirty="0">
                <a:latin typeface="Poppins" panose="00000800000000000000" pitchFamily="2" charset="0"/>
                <a:cs typeface="Poppins" panose="00000800000000000000" pitchFamily="2" charset="0"/>
              </a:rPr>
              <a:t> — Probabilistic Fix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sz="1050" dirty="0">
                <a:latin typeface="Poppins" panose="00000800000000000000" pitchFamily="2" charset="0"/>
                <a:cs typeface="Poppins" panose="00000800000000000000" pitchFamily="2" charset="0"/>
              </a:rPr>
              <a:t>Bayesian model that learns persistent bias: '</a:t>
            </a:r>
            <a:r>
              <a:rPr sz="1050" dirty="0" err="1">
                <a:latin typeface="Poppins" panose="00000800000000000000" pitchFamily="2" charset="0"/>
                <a:cs typeface="Poppins" panose="00000800000000000000" pitchFamily="2" charset="0"/>
              </a:rPr>
              <a:t>DLinear</a:t>
            </a:r>
            <a:r>
              <a:rPr sz="1050" dirty="0">
                <a:latin typeface="Poppins" panose="00000800000000000000" pitchFamily="2" charset="0"/>
                <a:cs typeface="Poppins" panose="00000800000000000000" pitchFamily="2" charset="0"/>
              </a:rPr>
              <a:t> always over-predicts Tuesday 19h by 15 MW.' Only works with true error access (sequential mode).</a:t>
            </a: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691E"/>
                </a:solidFill>
                <a:latin typeface="Calibri"/>
              </a:defRPr>
            </a:pPr>
            <a:r>
              <a:rPr sz="1100" dirty="0">
                <a:latin typeface="Poppins" panose="00000800000000000000" pitchFamily="2" charset="0"/>
                <a:cs typeface="Poppins" panose="00000800000000000000" pitchFamily="2" charset="0"/>
              </a:rPr>
              <a:t>Result: 68.9 MW  (−40.4%</a:t>
            </a:r>
            <a:r>
              <a:rPr lang="en-US" sz="1100" dirty="0">
                <a:latin typeface="Poppins" panose="00000800000000000000" pitchFamily="2" charset="0"/>
                <a:cs typeface="Poppins" panose="00000800000000000000" pitchFamily="2" charset="0"/>
              </a:rPr>
              <a:t> over base </a:t>
            </a:r>
            <a:r>
              <a:rPr lang="en-US" sz="1100" dirty="0" err="1">
                <a:latin typeface="Poppins" panose="00000800000000000000" pitchFamily="2" charset="0"/>
                <a:cs typeface="Poppins" panose="00000800000000000000" pitchFamily="2" charset="0"/>
              </a:rPr>
              <a:t>dlinear</a:t>
            </a:r>
            <a:r>
              <a:rPr lang="en-US" sz="1100" dirty="0">
                <a:latin typeface="Poppins" panose="00000800000000000000" pitchFamily="2" charset="0"/>
                <a:cs typeface="Poppins" panose="00000800000000000000" pitchFamily="2" charset="0"/>
              </a:rPr>
              <a:t> model</a:t>
            </a:r>
            <a:r>
              <a:rPr sz="1100" dirty="0">
                <a:latin typeface="Poppins" panose="00000800000000000000" pitchFamily="2" charset="0"/>
                <a:cs typeface="Poppins" panose="00000800000000000000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05527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76D68A-3063-274C-7FC2-08292774E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BBF86D-72C3-5FD4-6076-5E565CA1D84D}"/>
              </a:ext>
            </a:extLst>
          </p:cNvPr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88AE3F-42AE-99A6-191D-9FC270DAB8ED}"/>
              </a:ext>
            </a:extLst>
          </p:cNvPr>
          <p:cNvSpPr txBox="1"/>
          <p:nvPr/>
        </p:nvSpPr>
        <p:spPr>
          <a:xfrm>
            <a:off x="648958" y="274320"/>
            <a:ext cx="279916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0</a:t>
            </a: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7/ Current Load forecast interface)</a:t>
            </a:r>
            <a:endParaRPr dirty="0"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C09B7D-09C6-E42E-FFE8-11F9732E96CE}"/>
              </a:ext>
            </a:extLst>
          </p:cNvPr>
          <p:cNvSpPr txBox="1"/>
          <p:nvPr/>
        </p:nvSpPr>
        <p:spPr>
          <a:xfrm>
            <a:off x="502920" y="656585"/>
            <a:ext cx="11247120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Current Load Forecast Interface</a:t>
            </a:r>
            <a:endParaRPr dirty="0"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9A2D66-6766-47E4-4C31-4B1494D73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89" y="1166117"/>
            <a:ext cx="9659297" cy="4891154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5301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74DA9-DD46-28AF-EB99-76A1B300A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3E4A69-A0A1-2073-EB67-A54BE30DD924}"/>
              </a:ext>
            </a:extLst>
          </p:cNvPr>
          <p:cNvSpPr txBox="1"/>
          <p:nvPr/>
        </p:nvSpPr>
        <p:spPr>
          <a:xfrm>
            <a:off x="684469" y="318708"/>
            <a:ext cx="238719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0</a:t>
            </a: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8/ Multi Horizon Performance</a:t>
            </a:r>
            <a:endParaRPr dirty="0"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918290-519E-F1EB-A9C2-AC458B0DFD51}"/>
              </a:ext>
            </a:extLst>
          </p:cNvPr>
          <p:cNvSpPr txBox="1"/>
          <p:nvPr/>
        </p:nvSpPr>
        <p:spPr>
          <a:xfrm>
            <a:off x="502920" y="656585"/>
            <a:ext cx="11247120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Multi-Horizon Performance of Deployed Model</a:t>
            </a:r>
            <a:endParaRPr dirty="0"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8DD33D-103D-3772-F5A4-F466F17AD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11" y="1236231"/>
            <a:ext cx="10110778" cy="468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221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17835"/>
            <a:ext cx="50465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0</a:t>
            </a: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9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 /  Energy  —  How better accuracy saves real fuel and emissions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54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rPr sz="2000" dirty="0">
                <a:latin typeface="Poppins" panose="00000800000000000000" pitchFamily="2" charset="0"/>
                <a:cs typeface="Poppins" panose="00000800000000000000" pitchFamily="2" charset="0"/>
              </a:rPr>
              <a:t>Better Forecasts Don't Just Improve Numbers — They Save Fuel.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730" y="1783080"/>
            <a:ext cx="10972800" cy="804211"/>
          </a:xfrm>
          <a:prstGeom prst="rect">
            <a:avLst/>
          </a:prstGeom>
          <a:solidFill>
            <a:srgbClr val="F2F7EE"/>
          </a:solidFill>
          <a:ln w="12700">
            <a:solidFill>
              <a:srgbClr val="C8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972672"/>
            <a:ext cx="10015491" cy="44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The Fuel Story. 50 MW less error → 50 MW dispatched correctly every hour. No wasted fuel from over-generation. No expensive peaker scramble from under-generation. At ~0.4 </a:t>
            </a:r>
            <a:r>
              <a:rPr dirty="0" err="1">
                <a:latin typeface="Poppins" panose="00000800000000000000" pitchFamily="2" charset="0"/>
                <a:cs typeface="Poppins" panose="00000800000000000000" pitchFamily="2" charset="0"/>
              </a:rPr>
              <a:t>tCO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₂/MWh, that's ~20 </a:t>
            </a:r>
            <a:r>
              <a:rPr dirty="0" err="1">
                <a:latin typeface="Poppins" panose="00000800000000000000" pitchFamily="2" charset="0"/>
                <a:cs typeface="Poppins" panose="00000800000000000000" pitchFamily="2" charset="0"/>
              </a:rPr>
              <a:t>tCO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₂ saved per hour of avoided over-gen.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730" y="2763619"/>
            <a:ext cx="10972799" cy="8544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958928"/>
            <a:ext cx="10691822" cy="44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The Money Story. </a:t>
            </a: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P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eaker plants </a:t>
            </a: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are very expensive to run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. A 50 MW under-forecast mistake can cost thousands per hour in fast-ramping generation. </a:t>
            </a: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Machine learning integration is going to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 cut that error by 35–50%.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730" y="3948834"/>
            <a:ext cx="10607041" cy="8544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0730" y="4110843"/>
            <a:ext cx="9579006" cy="44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The Annual Picture. 50 MW avg × 24h × 365d = 438,000 MWh/year of better dispatch decisions. The model trains for 0.003 kWh per fold. The operational savings — fuel, emissions, peaker avoidance — are millions of times larger.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2A9775-91DF-643B-60F9-7EB2E5C6A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AB787F-4AFD-A757-F635-EA92B18551D5}"/>
              </a:ext>
            </a:extLst>
          </p:cNvPr>
          <p:cNvSpPr/>
          <p:nvPr/>
        </p:nvSpPr>
        <p:spPr>
          <a:xfrm>
            <a:off x="457200" y="320040"/>
            <a:ext cx="45720" cy="45720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2B8E84-6232-83B5-0BC0-F2E6CD1DB756}"/>
              </a:ext>
            </a:extLst>
          </p:cNvPr>
          <p:cNvSpPr txBox="1"/>
          <p:nvPr/>
        </p:nvSpPr>
        <p:spPr>
          <a:xfrm>
            <a:off x="502920" y="417835"/>
            <a:ext cx="695575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691E"/>
                </a:solidFill>
                <a:latin typeface="Calibri"/>
              </a:defRPr>
            </a:pP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10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  /  Takeaways  —  What this means for West African grids</a:t>
            </a: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 (Undergoing rapid electrification)</a:t>
            </a:r>
            <a:endParaRPr dirty="0"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B57762-6CAE-15D9-BACC-D74306AE0EDE}"/>
              </a:ext>
            </a:extLst>
          </p:cNvPr>
          <p:cNvSpPr txBox="1"/>
          <p:nvPr/>
        </p:nvSpPr>
        <p:spPr>
          <a:xfrm>
            <a:off x="457200" y="731520"/>
            <a:ext cx="11247120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11111"/>
                </a:solidFill>
                <a:latin typeface="Calibri"/>
              </a:defRPr>
            </a:pP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Take aways and Impact of Work</a:t>
            </a:r>
            <a:endParaRPr dirty="0"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840C54-2FF8-928D-C490-9F03A03CDEB7}"/>
              </a:ext>
            </a:extLst>
          </p:cNvPr>
          <p:cNvSpPr/>
          <p:nvPr/>
        </p:nvSpPr>
        <p:spPr>
          <a:xfrm>
            <a:off x="1217130" y="3586579"/>
            <a:ext cx="10270575" cy="2394458"/>
          </a:xfrm>
          <a:prstGeom prst="rect">
            <a:avLst/>
          </a:prstGeom>
          <a:solidFill>
            <a:srgbClr val="F2F7EE"/>
          </a:solidFill>
          <a:ln w="12700">
            <a:solidFill>
              <a:srgbClr val="C8D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4C604B-47B3-EFDB-8E99-04634D5B24CF}"/>
              </a:ext>
            </a:extLst>
          </p:cNvPr>
          <p:cNvSpPr txBox="1"/>
          <p:nvPr/>
        </p:nvSpPr>
        <p:spPr>
          <a:xfrm>
            <a:off x="1176735" y="3586579"/>
            <a:ext cx="10351364" cy="215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111111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For West African Grids</a:t>
            </a: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Stationary data is a myth here. European grids grow 0–1% yearly. Ours: 12.4%. Models from </a:t>
            </a: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mature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 grids degrade fast.</a:t>
            </a:r>
            <a:endParaRPr lang="en-US" dirty="0"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200" b="0">
                <a:solidFill>
                  <a:srgbClr val="444444"/>
                </a:solidFill>
                <a:latin typeface="Calibri"/>
              </a:defRPr>
            </a:pPr>
            <a:endParaRPr dirty="0"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200" b="0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CV is non-negotiable. Model rankings change year to year (2024's 226 MW spike). A single test year can mislead.</a:t>
            </a:r>
            <a:endParaRPr lang="en-US" dirty="0"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endParaRPr dirty="0"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marL="171450" indent="-1714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1">
                <a:solidFill>
                  <a:srgbClr val="444444"/>
                </a:solidFill>
                <a:latin typeface="Calibri"/>
              </a:defRPr>
            </a:pP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Streaming</a:t>
            </a: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 architecture 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 is the path forward. </a:t>
            </a:r>
            <a:r>
              <a:rPr lang="en-US" dirty="0">
                <a:latin typeface="Poppins" panose="00000800000000000000" pitchFamily="2" charset="0"/>
                <a:cs typeface="Poppins" panose="00000800000000000000" pitchFamily="2" charset="0"/>
              </a:rPr>
              <a:t>Online correction </a:t>
            </a:r>
            <a:r>
              <a:rPr dirty="0">
                <a:latin typeface="Poppins" panose="00000800000000000000" pitchFamily="2" charset="0"/>
                <a:cs typeface="Poppins" panose="00000800000000000000" pitchFamily="2" charset="0"/>
              </a:rPr>
              <a:t>proves that error autocorrelation is our strongest signal. </a:t>
            </a:r>
            <a:endParaRPr lang="en-US" dirty="0"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44444"/>
                </a:solidFill>
                <a:latin typeface="Calibri"/>
              </a:defRPr>
            </a:pPr>
            <a:endParaRPr lang="en-US" dirty="0"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200" b="1">
                <a:solidFill>
                  <a:srgbClr val="444444"/>
                </a:solidFill>
                <a:latin typeface="Calibri"/>
              </a:defRPr>
            </a:pPr>
            <a:r>
              <a:rPr lang="en-US" sz="1200" dirty="0">
                <a:latin typeface="Poppins" panose="00000800000000000000" pitchFamily="2" charset="0"/>
                <a:cs typeface="Poppins" panose="00000800000000000000" pitchFamily="2" charset="0"/>
              </a:rPr>
              <a:t>Sustainable AI is not optional. Our approach — 36K parameters, CPU-trained, 0.003 kWh per fold — proves you don't need massive compute for accurate forecasting. For developing grids, efficiency is a feature, not a trade-off.</a:t>
            </a:r>
            <a:endParaRPr dirty="0"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E77FC530-7C0D-7D84-7158-96D58A574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130" y="1311166"/>
            <a:ext cx="8326366" cy="206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900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1240</Words>
  <Application>Microsoft Office PowerPoint</Application>
  <PresentationFormat>Widescreen</PresentationFormat>
  <Paragraphs>118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Courier New</vt:lpstr>
      <vt:lpstr>Montserrat Black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Gyimah</dc:creator>
  <cp:lastModifiedBy>Emmanuel Gyimah</cp:lastModifiedBy>
  <cp:revision>9</cp:revision>
  <dcterms:created xsi:type="dcterms:W3CDTF">2026-06-29T13:51:04Z</dcterms:created>
  <dcterms:modified xsi:type="dcterms:W3CDTF">2026-06-29T16:37:23Z</dcterms:modified>
</cp:coreProperties>
</file>